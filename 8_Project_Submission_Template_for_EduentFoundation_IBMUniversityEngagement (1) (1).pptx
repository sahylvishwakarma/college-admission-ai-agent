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embeddedFontLst>
    <p:embeddedFont>
      <p:font typeface="Roboto Mon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2DE075A-C47C-47B1-9857-8CAD80958E1F}">
  <a:tblStyle styleId="{F2DE075A-C47C-47B1-9857-8CAD80958E1F}"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Mono-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italic.fntdata"/><Relationship Id="rId25" Type="http://schemas.openxmlformats.org/officeDocument/2006/relationships/font" Target="fonts/RobotoMono-bold.fntdata"/><Relationship Id="rId27" Type="http://schemas.openxmlformats.org/officeDocument/2006/relationships/font" Target="fonts/RobotoMon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e8577515d1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e8577515d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e8577515d1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e8577515d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e8577515d1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e8577515d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e8577515d1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e8577515d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p:nvPr>
            <p:ph idx="2" type="pic"/>
          </p:nvPr>
        </p:nvSpPr>
        <p:spPr>
          <a:xfrm>
            <a:off x="5183188" y="987425"/>
            <a:ext cx="6172200" cy="4873625"/>
          </a:xfrm>
          <a:prstGeom prst="rect">
            <a:avLst/>
          </a:prstGeom>
          <a:noFill/>
          <a:ln>
            <a:noFill/>
          </a:ln>
        </p:spPr>
      </p:sp>
      <p:sp>
        <p:nvSpPr>
          <p:cNvPr id="58" name="Google Shape;58;p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1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12"/>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13"/>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13"/>
          <p:cNvGraphicFramePr/>
          <p:nvPr/>
        </p:nvGraphicFramePr>
        <p:xfrm>
          <a:off x="1299257" y="2600315"/>
          <a:ext cx="3000000" cy="3000000"/>
        </p:xfrm>
        <a:graphic>
          <a:graphicData uri="http://schemas.openxmlformats.org/drawingml/2006/table">
            <a:tbl>
              <a:tblPr>
                <a:noFill/>
                <a:tableStyleId>{F2DE075A-C47C-47B1-9857-8CAD80958E1F}</a:tableStyleId>
              </a:tblPr>
              <a:tblGrid>
                <a:gridCol w="2064875"/>
                <a:gridCol w="2184225"/>
                <a:gridCol w="3217000"/>
                <a:gridCol w="1928900"/>
              </a:tblGrid>
              <a:tr h="9732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193900">
                <a:tc>
                  <a:txBody>
                    <a:bodyPr/>
                    <a:lstStyle/>
                    <a:p>
                      <a:pPr indent="0" lvl="0" marL="0" marR="0" rtl="0" algn="l">
                        <a:lnSpc>
                          <a:spcPct val="100000"/>
                        </a:lnSpc>
                        <a:spcBef>
                          <a:spcPts val="0"/>
                        </a:spcBef>
                        <a:spcAft>
                          <a:spcPts val="0"/>
                        </a:spcAft>
                        <a:buClr>
                          <a:srgbClr val="000000"/>
                        </a:buClr>
                        <a:buSzPts val="1400"/>
                        <a:buFont typeface="Arial"/>
                        <a:buNone/>
                      </a:pPr>
                      <a:r>
                        <a:rPr lang="en-US"/>
                        <a:t>Sahil Vishwakarma</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a:t>Sahilvishwakarmaq3451@hmail.com</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a:t>7084640486</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sp>
        <p:nvSpPr>
          <p:cNvPr id="87" name="Google Shape;87;p13"/>
          <p:cNvSpPr txBox="1"/>
          <p:nvPr/>
        </p:nvSpPr>
        <p:spPr>
          <a:xfrm>
            <a:off x="1190164" y="1460724"/>
            <a:ext cx="10280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Domain of  Project – </a:t>
            </a:r>
            <a:r>
              <a:rPr b="1" i="0" lang="en-US" sz="2400" u="none" cap="none" strike="noStrike">
                <a:solidFill>
                  <a:srgbClr val="000000"/>
                </a:solidFill>
                <a:highlight>
                  <a:srgbClr val="FFFF00"/>
                </a:highlight>
                <a:latin typeface="Arial"/>
                <a:ea typeface="Arial"/>
                <a:cs typeface="Arial"/>
                <a:sym typeface="Arial"/>
              </a:rPr>
              <a:t>Education </a:t>
            </a:r>
            <a:endParaRPr b="1" i="0" sz="2400" u="none" cap="none" strike="noStrike">
              <a:solidFill>
                <a:srgbClr val="000000"/>
              </a:solidFill>
              <a:highlight>
                <a:srgbClr val="FFFF00"/>
              </a:highlight>
              <a:latin typeface="Arial"/>
              <a:ea typeface="Arial"/>
              <a:cs typeface="Arial"/>
              <a:sym typeface="Arial"/>
            </a:endParaRPr>
          </a:p>
        </p:txBody>
      </p:sp>
      <p:sp>
        <p:nvSpPr>
          <p:cNvPr id="88" name="Google Shape;88;p13"/>
          <p:cNvSpPr txBox="1"/>
          <p:nvPr/>
        </p:nvSpPr>
        <p:spPr>
          <a:xfrm>
            <a:off x="1206162" y="551965"/>
            <a:ext cx="9581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Project Tile – </a:t>
            </a:r>
            <a:r>
              <a:rPr b="1" lang="en-US" sz="2400">
                <a:solidFill>
                  <a:srgbClr val="002060"/>
                </a:solidFill>
                <a:highlight>
                  <a:srgbClr val="FFFF00"/>
                </a:highlight>
                <a:latin typeface="Times New Roman"/>
                <a:ea typeface="Times New Roman"/>
                <a:cs typeface="Times New Roman"/>
                <a:sym typeface="Times New Roman"/>
              </a:rPr>
              <a:t>College Admission Agent</a:t>
            </a:r>
            <a:endParaRPr b="1" i="0" sz="2400" u="none" cap="none" strike="noStrike">
              <a:solidFill>
                <a:srgbClr val="000000"/>
              </a:solidFill>
              <a:highlight>
                <a:srgbClr val="FFFF00"/>
              </a:highlight>
              <a:latin typeface="Arial"/>
              <a:ea typeface="Arial"/>
              <a:cs typeface="Arial"/>
              <a:sym typeface="Arial"/>
            </a:endParaRPr>
          </a:p>
        </p:txBody>
      </p:sp>
      <p:pic>
        <p:nvPicPr>
          <p:cNvPr id="89" name="Google Shape;89;p13" title="sahil photo.jpg"/>
          <p:cNvPicPr preferRelativeResize="0"/>
          <p:nvPr/>
        </p:nvPicPr>
        <p:blipFill>
          <a:blip r:embed="rId3">
            <a:alphaModFix/>
          </a:blip>
          <a:stretch>
            <a:fillRect/>
          </a:stretch>
        </p:blipFill>
        <p:spPr>
          <a:xfrm>
            <a:off x="4152925" y="3640000"/>
            <a:ext cx="805024" cy="10408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nvSpPr>
        <p:spPr>
          <a:xfrm>
            <a:off x="576075" y="1165750"/>
            <a:ext cx="10131600" cy="3777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b="1" lang="en-US"/>
              <a:t>Problem Statement No.4 </a:t>
            </a:r>
            <a:r>
              <a:rPr lang="en-US"/>
              <a:t>- </a:t>
            </a:r>
            <a:r>
              <a:rPr b="1" lang="en-US"/>
              <a:t>College Admission Agent ( RAG Based )</a:t>
            </a:r>
            <a:endParaRPr b="1"/>
          </a:p>
          <a:p>
            <a:pPr indent="0" lvl="0" marL="0" rtl="0" algn="l">
              <a:lnSpc>
                <a:spcPct val="115000"/>
              </a:lnSpc>
              <a:spcBef>
                <a:spcPts val="0"/>
              </a:spcBef>
              <a:spcAft>
                <a:spcPts val="0"/>
              </a:spcAft>
              <a:buClr>
                <a:schemeClr val="dk1"/>
              </a:buClr>
              <a:buSzPts val="1100"/>
              <a:buFont typeface="Arial"/>
              <a:buNone/>
            </a:pPr>
            <a:r>
              <a:rPr b="1" lang="en-US"/>
              <a:t>The Challenge </a:t>
            </a:r>
            <a:r>
              <a:rPr lang="en-US"/>
              <a:t>- A College Admission Agent, powered by RAG (Retrieval-Augmented Generation),</a:t>
            </a:r>
            <a:endParaRPr/>
          </a:p>
          <a:p>
            <a:pPr indent="0" lvl="0" marL="0" rtl="0" algn="l">
              <a:lnSpc>
                <a:spcPct val="115000"/>
              </a:lnSpc>
              <a:spcBef>
                <a:spcPts val="0"/>
              </a:spcBef>
              <a:spcAft>
                <a:spcPts val="0"/>
              </a:spcAft>
              <a:buSzPts val="1100"/>
              <a:buNone/>
            </a:pPr>
            <a:r>
              <a:rPr lang="en-US"/>
              <a:t>streamlines the student admission process.</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US"/>
              <a:t>It retrieves and summarizes admission policies, eligibility criteria, and FAQs from institutional databases</a:t>
            </a:r>
            <a:endParaRPr/>
          </a:p>
          <a:p>
            <a:pPr indent="0" lvl="0" marL="0" rtl="0" algn="l">
              <a:lnSpc>
                <a:spcPct val="115000"/>
              </a:lnSpc>
              <a:spcBef>
                <a:spcPts val="0"/>
              </a:spcBef>
              <a:spcAft>
                <a:spcPts val="0"/>
              </a:spcAft>
              <a:buSzPts val="1100"/>
              <a:buNone/>
            </a:pPr>
            <a:r>
              <a:rPr lang="en-US"/>
              <a:t>and official sources.</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US"/>
              <a:t>Prospective students can ask natural language questions and receive accurate, up-to-date responses</a:t>
            </a:r>
            <a:endParaRPr/>
          </a:p>
          <a:p>
            <a:pPr indent="0" lvl="0" marL="0" rtl="0" algn="l">
              <a:lnSpc>
                <a:spcPct val="115000"/>
              </a:lnSpc>
              <a:spcBef>
                <a:spcPts val="0"/>
              </a:spcBef>
              <a:spcAft>
                <a:spcPts val="0"/>
              </a:spcAft>
              <a:buSzPts val="1100"/>
              <a:buNone/>
            </a:pPr>
            <a:r>
              <a:rPr lang="en-US"/>
              <a:t>instantly.</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US"/>
              <a:t>The agent helps with course selection, application guidance, fee structure, and important deadlines.</a:t>
            </a:r>
            <a:endParaRPr/>
          </a:p>
          <a:p>
            <a:pPr indent="0" lvl="0" marL="0" rtl="0" algn="l">
              <a:lnSpc>
                <a:spcPct val="115000"/>
              </a:lnSpc>
              <a:spcBef>
                <a:spcPts val="0"/>
              </a:spcBef>
              <a:spcAft>
                <a:spcPts val="0"/>
              </a:spcAft>
              <a:buClr>
                <a:schemeClr val="dk1"/>
              </a:buClr>
              <a:buSzPts val="1100"/>
              <a:buFont typeface="Arial"/>
              <a:buNone/>
            </a:pPr>
            <a:r>
              <a:rPr lang="en-US"/>
              <a:t>Using trusted, real-time data, it reduces manual inquiries and enhances applicant experience.</a:t>
            </a:r>
            <a:endParaRPr/>
          </a:p>
          <a:p>
            <a:pPr indent="0" lvl="0" marL="0" rtl="0" algn="l">
              <a:lnSpc>
                <a:spcPct val="115000"/>
              </a:lnSpc>
              <a:spcBef>
                <a:spcPts val="0"/>
              </a:spcBef>
              <a:spcAft>
                <a:spcPts val="0"/>
              </a:spcAft>
              <a:buClr>
                <a:schemeClr val="dk1"/>
              </a:buClr>
              <a:buSzPts val="1100"/>
              <a:buFont typeface="Arial"/>
              <a:buNone/>
            </a:pPr>
            <a:r>
              <a:rPr lang="en-US"/>
              <a:t>This AI-driven assistant boosts transparency, accessibility, and efficiency in college admissions.</a:t>
            </a:r>
            <a:endParaRPr/>
          </a:p>
          <a:p>
            <a:pPr indent="0" lvl="0" marL="0" rtl="0" algn="l">
              <a:lnSpc>
                <a:spcPct val="115000"/>
              </a:lnSpc>
              <a:spcBef>
                <a:spcPts val="0"/>
              </a:spcBef>
              <a:spcAft>
                <a:spcPts val="0"/>
              </a:spcAft>
              <a:buClr>
                <a:schemeClr val="dk1"/>
              </a:buClr>
              <a:buSzPts val="1100"/>
              <a:buFont typeface="Arial"/>
              <a:buNone/>
            </a:pPr>
            <a:r>
              <a:rPr b="1" lang="en-US"/>
              <a:t>Technology </a:t>
            </a:r>
            <a:r>
              <a:rPr lang="en-US"/>
              <a:t>- Use of IBM cloud lite services /IBM Granite is mandatory.</a:t>
            </a:r>
            <a:endParaRPr/>
          </a:p>
          <a:p>
            <a:pPr indent="0" lvl="0" marL="0" marR="0" rtl="0" algn="l">
              <a:lnSpc>
                <a:spcPct val="100000"/>
              </a:lnSpc>
              <a:spcBef>
                <a:spcPts val="0"/>
              </a:spcBef>
              <a:spcAft>
                <a:spcPts val="0"/>
              </a:spcAft>
              <a:buNone/>
            </a:pPr>
            <a:r>
              <a:t/>
            </a:r>
            <a:endParaRPr/>
          </a:p>
        </p:txBody>
      </p:sp>
      <p:sp>
        <p:nvSpPr>
          <p:cNvPr id="95" name="Google Shape;95;p14"/>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Problem Statement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nvSpPr>
        <p:spPr>
          <a:xfrm>
            <a:off x="667512" y="1165753"/>
            <a:ext cx="10607100" cy="3940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Tech Stack (Mandatory)</a:t>
            </a:r>
            <a:r>
              <a:rPr b="0" i="0" lang="en-US" sz="2000" u="none" cap="none" strike="noStrike">
                <a:solidFill>
                  <a:srgbClr val="000000"/>
                </a:solidFill>
                <a:latin typeface="Arial"/>
                <a:ea typeface="Arial"/>
                <a:cs typeface="Arial"/>
                <a:sym typeface="Arial"/>
              </a:rPr>
              <a:t> </a:t>
            </a:r>
            <a:endParaRPr sz="2000"/>
          </a:p>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Use </a:t>
            </a:r>
            <a:r>
              <a:rPr b="1" i="0" lang="en-US" sz="2000" u="none" cap="none" strike="noStrike">
                <a:solidFill>
                  <a:srgbClr val="000000"/>
                </a:solidFill>
                <a:latin typeface="Arial"/>
                <a:ea typeface="Arial"/>
                <a:cs typeface="Arial"/>
                <a:sym typeface="Arial"/>
              </a:rPr>
              <a:t>any one</a:t>
            </a:r>
            <a:r>
              <a:rPr b="0" i="0" lang="en-US" sz="2000" u="none" cap="none" strike="noStrike">
                <a:solidFill>
                  <a:srgbClr val="000000"/>
                </a:solidFill>
                <a:latin typeface="Arial"/>
                <a:ea typeface="Arial"/>
                <a:cs typeface="Arial"/>
                <a:sym typeface="Arial"/>
              </a:rPr>
              <a:t> of the following approaches: </a:t>
            </a:r>
            <a:endParaRPr sz="2000"/>
          </a:p>
          <a:p>
            <a:pPr indent="-323850" lvl="0" marL="2857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LangFlow + IBM watsonx.ai + Granite Models </a:t>
            </a:r>
            <a:endParaRPr sz="2000"/>
          </a:p>
          <a:p>
            <a:pPr indent="-323850" lvl="0" marL="2857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IBM Cloud Agentic Lab with IBM Granite Models </a:t>
            </a:r>
            <a:endParaRPr sz="2000"/>
          </a:p>
          <a:p>
            <a:pPr indent="-323850" lvl="0" marL="2857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Replicate with LangChain + RAG + IBM Granite Models</a:t>
            </a:r>
            <a:endParaRPr sz="2000"/>
          </a:p>
          <a:p>
            <a:pPr indent="-196850" lvl="0" marL="285750" marR="0" rtl="0" algn="l">
              <a:lnSpc>
                <a:spcPct val="100000"/>
              </a:lnSpc>
              <a:spcBef>
                <a:spcPts val="0"/>
              </a:spcBef>
              <a:spcAft>
                <a:spcPts val="0"/>
              </a:spcAft>
              <a:buClr>
                <a:srgbClr val="000000"/>
              </a:buClr>
              <a:buSzPts val="14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I used </a:t>
            </a:r>
            <a:r>
              <a:rPr lang="en-US" sz="2000">
                <a:solidFill>
                  <a:schemeClr val="dk1"/>
                </a:solidFill>
              </a:rPr>
              <a:t>IBM Cloud Agentic Lab with IBM Granite Models </a:t>
            </a:r>
            <a:endParaRPr sz="2000">
              <a:solidFill>
                <a:schemeClr val="dk1"/>
              </a:solidFill>
            </a:endParaRPr>
          </a:p>
          <a:p>
            <a:pPr indent="0" lvl="0" marL="0" marR="0" rtl="0" algn="l">
              <a:lnSpc>
                <a:spcPct val="100000"/>
              </a:lnSpc>
              <a:spcBef>
                <a:spcPts val="0"/>
              </a:spcBef>
              <a:spcAft>
                <a:spcPts val="0"/>
              </a:spcAft>
              <a:buNone/>
            </a:pPr>
            <a:r>
              <a:t/>
            </a:r>
            <a:endParaRPr sz="2000">
              <a:highlight>
                <a:srgbClr val="FFFF00"/>
              </a:highlight>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1" name="Google Shape;101;p15"/>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Technology Used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nvSpPr>
        <p:spPr>
          <a:xfrm>
            <a:off x="336000" y="1234450"/>
            <a:ext cx="11520000" cy="5910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The proposed solution is an autonomous, AI-powered </a:t>
            </a:r>
            <a:r>
              <a:rPr b="1" lang="en-US" sz="1300">
                <a:solidFill>
                  <a:schemeClr val="dk1"/>
                </a:solidFill>
              </a:rPr>
              <a:t>College Admission AI Agent</a:t>
            </a:r>
            <a:r>
              <a:rPr lang="en-US" sz="1300">
                <a:solidFill>
                  <a:schemeClr val="dk1"/>
                </a:solidFill>
              </a:rPr>
              <a:t> built on the </a:t>
            </a:r>
            <a:r>
              <a:rPr b="1" lang="en-US" sz="1300">
                <a:solidFill>
                  <a:schemeClr val="dk1"/>
                </a:solidFill>
              </a:rPr>
              <a:t>IBM watsonx Orchestrate</a:t>
            </a:r>
            <a:r>
              <a:rPr lang="en-US" sz="1300">
                <a:solidFill>
                  <a:schemeClr val="dk1"/>
                </a:solidFill>
              </a:rPr>
              <a:t> framework and powered by </a:t>
            </a:r>
            <a:r>
              <a:rPr b="1" lang="en-US" sz="1300">
                <a:solidFill>
                  <a:schemeClr val="dk1"/>
                </a:solidFill>
              </a:rPr>
              <a:t>IBM Granite</a:t>
            </a:r>
            <a:r>
              <a:rPr lang="en-US" sz="1300">
                <a:solidFill>
                  <a:schemeClr val="dk1"/>
                </a:solidFill>
              </a:rPr>
              <a:t> foundational models. It delivers personalized, real-time admission counseling and automates informational workflows, removing friction in course selection, eligibility tracking, and fee calculations.</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The system implements a Grounded </a:t>
            </a:r>
            <a:r>
              <a:rPr b="1" lang="en-US" sz="1300">
                <a:solidFill>
                  <a:schemeClr val="dk1"/>
                </a:solidFill>
              </a:rPr>
              <a:t>Retrieval-Augmented Generation (RAG)</a:t>
            </a:r>
            <a:r>
              <a:rPr lang="en-US" sz="1300">
                <a:solidFill>
                  <a:schemeClr val="dk1"/>
                </a:solidFill>
              </a:rPr>
              <a:t> pipeline. Official university brochures are vectorized and stored in the </a:t>
            </a:r>
            <a:r>
              <a:rPr b="1" lang="en-US" sz="1300">
                <a:solidFill>
                  <a:schemeClr val="dk1"/>
                </a:solidFill>
              </a:rPr>
              <a:t>watsonx.data Vector Database</a:t>
            </a:r>
            <a:r>
              <a:rPr lang="en-US" sz="1300">
                <a:solidFill>
                  <a:schemeClr val="dk1"/>
                </a:solidFill>
              </a:rPr>
              <a:t>. This allows the core </a:t>
            </a:r>
            <a:r>
              <a:rPr b="1" lang="en-US" sz="1300">
                <a:solidFill>
                  <a:schemeClr val="dk1"/>
                </a:solidFill>
              </a:rPr>
              <a:t>IBM Granite-4.0-8B-Instruct</a:t>
            </a:r>
            <a:r>
              <a:rPr lang="en-US" sz="1300">
                <a:solidFill>
                  <a:schemeClr val="dk1"/>
                </a:solidFill>
              </a:rPr>
              <a:t> model to extract and summarize intricate details (eligibility criteria, fees, rankings) with zero risk of hallucinations.</a:t>
            </a:r>
            <a:endParaRPr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500">
                <a:solidFill>
                  <a:schemeClr val="dk1"/>
                </a:solidFill>
              </a:rPr>
              <a:t>The Orchestrated Skill Architecture (4 Core Modules):</a:t>
            </a:r>
            <a:endParaRPr b="1"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Using the </a:t>
            </a:r>
            <a:r>
              <a:rPr b="1" lang="en-US" sz="1300">
                <a:solidFill>
                  <a:schemeClr val="dk1"/>
                </a:solidFill>
              </a:rPr>
              <a:t>watsonx Skill Flow Manager</a:t>
            </a:r>
            <a:r>
              <a:rPr lang="en-US" sz="1300">
                <a:solidFill>
                  <a:schemeClr val="dk1"/>
                </a:solidFill>
              </a:rPr>
              <a:t>, the system dynamically coordinates four specialized cognitive paths:</a:t>
            </a:r>
            <a:endParaRPr sz="1300">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US" sz="1300">
                <a:solidFill>
                  <a:schemeClr val="dk1"/>
                </a:solidFill>
              </a:rPr>
              <a:t>Academic Knowledge Orchestrator:</a:t>
            </a:r>
            <a:r>
              <a:rPr lang="en-US" sz="1300">
                <a:solidFill>
                  <a:schemeClr val="dk1"/>
                </a:solidFill>
              </a:rPr>
              <a:t> Instantly retrieves precise course details, curricula, and intake rules across all undergraduate, postgraduate, and doctoral disciplines.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Fee &amp; Scholarship Validation Skill:</a:t>
            </a:r>
            <a:r>
              <a:rPr lang="en-US" sz="1300">
                <a:solidFill>
                  <a:schemeClr val="dk1"/>
                </a:solidFill>
              </a:rPr>
              <a:t> Generates hyper-personalized financial breakdowns in real time. It calculates exact tuition, hostel, and transport fees while automatically applying merit-based scholarship waivers.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Infrastructure &amp; Campus Advisory Skill:</a:t>
            </a:r>
            <a:r>
              <a:rPr lang="en-US" sz="1300">
                <a:solidFill>
                  <a:schemeClr val="dk1"/>
                </a:solidFill>
              </a:rPr>
              <a:t> Delivers rich, virtual campus insights, highlighting smart classrooms, labs, and specialized training facilities.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Corporate Placement &amp; Career Engine:</a:t>
            </a:r>
            <a:r>
              <a:rPr lang="en-US" sz="1300">
                <a:solidFill>
                  <a:schemeClr val="dk1"/>
                </a:solidFill>
              </a:rPr>
              <a:t> Maps student academic streams to active placement trends, industry networks, and prominent recruiters.</a:t>
            </a:r>
            <a:endParaRPr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500">
                <a:solidFill>
                  <a:schemeClr val="dk1"/>
                </a:solidFill>
              </a:rPr>
              <a:t>Orchestration and Enterprise Interface</a:t>
            </a:r>
            <a:endParaRPr b="1"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The frontend features a modern web portal with an embedded </a:t>
            </a:r>
            <a:r>
              <a:rPr b="1" lang="en-US" sz="1300">
                <a:solidFill>
                  <a:schemeClr val="dk1"/>
                </a:solidFill>
              </a:rPr>
              <a:t>watsonx Web Chat Channel</a:t>
            </a:r>
            <a:r>
              <a:rPr lang="en-US" sz="1300">
                <a:solidFill>
                  <a:schemeClr val="dk1"/>
                </a:solidFill>
              </a:rPr>
              <a:t>. Behind the scenes, </a:t>
            </a:r>
            <a:r>
              <a:rPr b="1" lang="en-US" sz="1300">
                <a:solidFill>
                  <a:schemeClr val="dk1"/>
                </a:solidFill>
              </a:rPr>
              <a:t>IBM watsonx Orchestrate</a:t>
            </a:r>
            <a:r>
              <a:rPr lang="en-US" sz="1300">
                <a:solidFill>
                  <a:schemeClr val="dk1"/>
                </a:solidFill>
              </a:rPr>
              <a:t> manages the entire lifecycle—handling seamless context switching, autonomous task routing, and session memory. Concurrently, </a:t>
            </a:r>
            <a:r>
              <a:rPr b="1" lang="en-US" sz="1300">
                <a:solidFill>
                  <a:schemeClr val="dk1"/>
                </a:solidFill>
              </a:rPr>
              <a:t>watsonx.ai</a:t>
            </a:r>
            <a:r>
              <a:rPr lang="en-US" sz="1300">
                <a:solidFill>
                  <a:schemeClr val="dk1"/>
                </a:solidFill>
              </a:rPr>
              <a:t> ensures scalable model deployment and enterprise-level AI safety guardrails for a reliable user experience.</a:t>
            </a:r>
            <a:endParaRPr sz="1300">
              <a:solidFill>
                <a:schemeClr val="dk1"/>
              </a:solidFill>
            </a:endParaRPr>
          </a:p>
          <a:p>
            <a:pPr indent="0" lvl="0" marL="0" rtl="0" algn="l">
              <a:lnSpc>
                <a:spcPct val="115000"/>
              </a:lnSpc>
              <a:spcBef>
                <a:spcPts val="1200"/>
              </a:spcBef>
              <a:spcAft>
                <a:spcPts val="1200"/>
              </a:spcAft>
              <a:buNone/>
            </a:pPr>
            <a:r>
              <a:t/>
            </a:r>
            <a:endParaRPr b="1" sz="1600"/>
          </a:p>
        </p:txBody>
      </p:sp>
      <p:sp>
        <p:nvSpPr>
          <p:cNvPr id="107" name="Google Shape;107;p16"/>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Proposed Solution -</a:t>
            </a:r>
            <a:r>
              <a:rPr b="1" lang="en-US" sz="2300">
                <a:solidFill>
                  <a:schemeClr val="dk1"/>
                </a:solidFill>
              </a:rPr>
              <a:t>College Admission AI Agent</a:t>
            </a:r>
            <a:endParaRPr b="1" i="0" sz="33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lang="en-US" sz="2200">
                <a:solidFill>
                  <a:schemeClr val="dk1"/>
                </a:solidFill>
              </a:rPr>
              <a:t>Orchestrate </a:t>
            </a:r>
            <a:r>
              <a:rPr b="1" i="0" lang="en-US" sz="2400" u="none" cap="none" strike="noStrike">
                <a:solidFill>
                  <a:srgbClr val="000000"/>
                </a:solidFill>
                <a:latin typeface="Arial"/>
                <a:ea typeface="Arial"/>
                <a:cs typeface="Arial"/>
                <a:sym typeface="Arial"/>
              </a:rPr>
              <a:t>component Used -</a:t>
            </a:r>
            <a:endParaRPr b="1" i="0" sz="2400" u="none" cap="none" strike="noStrike">
              <a:solidFill>
                <a:srgbClr val="000000"/>
              </a:solidFill>
              <a:latin typeface="Arial"/>
              <a:ea typeface="Arial"/>
              <a:cs typeface="Arial"/>
              <a:sym typeface="Arial"/>
            </a:endParaRPr>
          </a:p>
        </p:txBody>
      </p:sp>
      <p:sp>
        <p:nvSpPr>
          <p:cNvPr id="113" name="Google Shape;113;p17"/>
          <p:cNvSpPr/>
          <p:nvPr/>
        </p:nvSpPr>
        <p:spPr>
          <a:xfrm>
            <a:off x="2264331" y="6784578"/>
            <a:ext cx="2140744"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4" name="Google Shape;114;p17"/>
          <p:cNvSpPr/>
          <p:nvPr/>
        </p:nvSpPr>
        <p:spPr>
          <a:xfrm>
            <a:off x="1782604"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5" name="Google Shape;115;p17"/>
          <p:cNvSpPr/>
          <p:nvPr/>
        </p:nvSpPr>
        <p:spPr>
          <a:xfrm>
            <a:off x="5732383"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6" name="Google Shape;116;p17"/>
          <p:cNvSpPr/>
          <p:nvPr/>
        </p:nvSpPr>
        <p:spPr>
          <a:xfrm>
            <a:off x="5077301"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7" name="Google Shape;117;p17"/>
          <p:cNvSpPr/>
          <p:nvPr/>
        </p:nvSpPr>
        <p:spPr>
          <a:xfrm>
            <a:off x="9027081"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8" name="Google Shape;118;p17"/>
          <p:cNvSpPr/>
          <p:nvPr/>
        </p:nvSpPr>
        <p:spPr>
          <a:xfrm>
            <a:off x="8371999"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9" name="Google Shape;119;p17"/>
          <p:cNvSpPr txBox="1"/>
          <p:nvPr/>
        </p:nvSpPr>
        <p:spPr>
          <a:xfrm>
            <a:off x="371100" y="852926"/>
            <a:ext cx="8823900" cy="751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700" u="none" cap="none" strike="noStrike">
              <a:solidFill>
                <a:srgbClr val="000000"/>
              </a:solidFill>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600">
                <a:solidFill>
                  <a:schemeClr val="dk1"/>
                </a:solidFill>
              </a:rPr>
              <a:t>1) Chat Input / Web Chat Channel</a:t>
            </a:r>
            <a:endParaRPr b="1" sz="1600">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US">
                <a:solidFill>
                  <a:schemeClr val="dk1"/>
                </a:solidFill>
              </a:rPr>
              <a:t>Description:</a:t>
            </a:r>
            <a:r>
              <a:rPr lang="en-US">
                <a:solidFill>
                  <a:schemeClr val="dk1"/>
                </a:solidFill>
              </a:rPr>
              <a:t> The frontend user interface layer (embedded web chat widget) where users input their queries, preferences, or specific admission/dietary details. watsonx Orchestrate exposes this natively through its channel integrations.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600">
                <a:solidFill>
                  <a:schemeClr val="dk1"/>
                </a:solidFill>
              </a:rPr>
              <a:t>2) watsonx Orchestrate Engine</a:t>
            </a:r>
            <a:endParaRPr b="1" sz="1600">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US">
                <a:solidFill>
                  <a:schemeClr val="dk1"/>
                </a:solidFill>
              </a:rPr>
              <a:t>Description:</a:t>
            </a:r>
            <a:r>
              <a:rPr lang="en-US">
                <a:solidFill>
                  <a:schemeClr val="dk1"/>
                </a:solidFill>
              </a:rPr>
              <a:t> The central cognitive manager that receives frontend inputs. It acts as the orchestrator to analyze user intent and maps it directly to autonomous skill executions or multi-step automated process flows.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600">
                <a:solidFill>
                  <a:schemeClr val="dk1"/>
                </a:solidFill>
              </a:rPr>
              <a:t>3) Core LLM Engine: Granite-4.0-8B-Instruct</a:t>
            </a:r>
            <a:endParaRPr b="1" sz="1600">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US">
                <a:solidFill>
                  <a:schemeClr val="dk1"/>
                </a:solidFill>
              </a:rPr>
              <a:t>Description:</a:t>
            </a:r>
            <a:r>
              <a:rPr lang="en-US">
                <a:solidFill>
                  <a:schemeClr val="dk1"/>
                </a:solidFill>
              </a:rPr>
              <a:t> The foundational reasoning engine powering the backend via the watsonx platform. This specific model is highly optimized, fast, and efficient for real-time instruction processing and delivering quick, structured responses.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600">
                <a:solidFill>
                  <a:schemeClr val="dk1"/>
                </a:solidFill>
              </a:rPr>
              <a:t>4) Chat Output / Response Handler</a:t>
            </a:r>
            <a:endParaRPr b="1" sz="1600">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US">
                <a:solidFill>
                  <a:schemeClr val="dk1"/>
                </a:solidFill>
              </a:rPr>
              <a:t>Description:</a:t>
            </a:r>
            <a:r>
              <a:rPr lang="en-US">
                <a:solidFill>
                  <a:schemeClr val="dk1"/>
                </a:solidFill>
              </a:rPr>
              <a:t> The interface responsible for rendering the agent's responses. It displays AI-generated suggestions, tailored data tables, or process timelines neatly back to the end-user inside the chat widget wrapper.</a:t>
            </a:r>
            <a:endParaRPr>
              <a:solidFill>
                <a:schemeClr val="dk1"/>
              </a:solidFill>
            </a:endParaRPr>
          </a:p>
          <a:p>
            <a:pPr indent="0" lvl="0" marL="0" marR="0" rtl="0" algn="l">
              <a:lnSpc>
                <a:spcPct val="100000"/>
              </a:lnSpc>
              <a:spcBef>
                <a:spcPts val="1200"/>
              </a:spcBef>
              <a:spcAft>
                <a:spcPts val="0"/>
              </a:spcAft>
              <a:buNone/>
            </a:pPr>
            <a:r>
              <a:t/>
            </a:r>
            <a:endParaRPr b="1" sz="1700"/>
          </a:p>
          <a:p>
            <a:pPr indent="0" lvl="0" marL="0" marR="0" rtl="0" algn="l">
              <a:lnSpc>
                <a:spcPct val="100000"/>
              </a:lnSpc>
              <a:spcBef>
                <a:spcPts val="0"/>
              </a:spcBef>
              <a:spcAft>
                <a:spcPts val="0"/>
              </a:spcAft>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700" u="none" cap="none" strike="noStrike">
                <a:solidFill>
                  <a:srgbClr val="000000"/>
                </a:solidFill>
                <a:latin typeface="Arial"/>
                <a:ea typeface="Arial"/>
                <a:cs typeface="Arial"/>
                <a:sym typeface="Arial"/>
              </a:rPr>
              <a:t> </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nvSpPr>
        <p:spPr>
          <a:xfrm>
            <a:off x="138325" y="1290925"/>
            <a:ext cx="11733600" cy="311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900">
                <a:solidFill>
                  <a:schemeClr val="dk1"/>
                </a:solidFill>
              </a:rPr>
              <a:t>5) watsonx Contextual Memory &amp; Session Storage</a:t>
            </a:r>
            <a:endParaRPr b="1" sz="1900">
              <a:solidFill>
                <a:schemeClr val="dk1"/>
              </a:solidFill>
            </a:endParaRPr>
          </a:p>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Description:</a:t>
            </a:r>
            <a:r>
              <a:rPr lang="en-US" sz="1700">
                <a:solidFill>
                  <a:schemeClr val="dk1"/>
                </a:solidFill>
              </a:rPr>
              <a:t> The internal data component that stores and retrieves active user states, session history, and variables. This allows the agent to maintain context throughout continuous, multi-turn conversations without losing track of user logs.</a:t>
            </a:r>
            <a:endParaRPr sz="1700">
              <a:solidFill>
                <a:schemeClr val="dk1"/>
              </a:solidFill>
            </a:endParaRPr>
          </a:p>
          <a:p>
            <a:pPr indent="0" lvl="0" marL="0" rtl="0" algn="l">
              <a:lnSpc>
                <a:spcPct val="115000"/>
              </a:lnSpc>
              <a:spcBef>
                <a:spcPts val="1400"/>
              </a:spcBef>
              <a:spcAft>
                <a:spcPts val="0"/>
              </a:spcAft>
              <a:buNone/>
            </a:pPr>
            <a:r>
              <a:rPr b="1" lang="en-US" sz="1900">
                <a:solidFill>
                  <a:schemeClr val="dk1"/>
                </a:solidFill>
              </a:rPr>
              <a:t>6) Skill Catalog / Custom API Integration (Additional Component)</a:t>
            </a:r>
            <a:endParaRPr b="1" sz="1900">
              <a:solidFill>
                <a:schemeClr val="dk1"/>
              </a:solidFill>
            </a:endParaRPr>
          </a:p>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Description:</a:t>
            </a:r>
            <a:r>
              <a:rPr lang="en-US" sz="1700">
                <a:solidFill>
                  <a:schemeClr val="dk1"/>
                </a:solidFill>
              </a:rPr>
              <a:t> A core architecture component of watsonx Orchestrate used to connect the agent with external datasets, server endpoints, or document logs. It allows the orchestrator to trigger specific digital skills and fetch dynamic, real-time data instead of relying on static responses.</a:t>
            </a:r>
            <a:endParaRPr sz="17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9"/>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chemeClr val="dk1"/>
                </a:solidFill>
                <a:latin typeface="Calibri"/>
                <a:ea typeface="Calibri"/>
                <a:cs typeface="Calibri"/>
                <a:sym typeface="Calibri"/>
              </a:rPr>
              <a:t>Architecture blueprint</a:t>
            </a:r>
            <a:endParaRPr b="0" i="0" sz="2400" u="none" cap="none" strike="noStrike">
              <a:solidFill>
                <a:srgbClr val="000000"/>
              </a:solidFill>
              <a:latin typeface="Arial"/>
              <a:ea typeface="Arial"/>
              <a:cs typeface="Arial"/>
              <a:sym typeface="Arial"/>
            </a:endParaRPr>
          </a:p>
        </p:txBody>
      </p:sp>
      <p:pic>
        <p:nvPicPr>
          <p:cNvPr id="130" name="Google Shape;130;p19"/>
          <p:cNvPicPr preferRelativeResize="0"/>
          <p:nvPr/>
        </p:nvPicPr>
        <p:blipFill>
          <a:blip r:embed="rId3">
            <a:alphaModFix/>
          </a:blip>
          <a:stretch>
            <a:fillRect/>
          </a:stretch>
        </p:blipFill>
        <p:spPr>
          <a:xfrm>
            <a:off x="152400" y="771750"/>
            <a:ext cx="11799602" cy="5933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ph type="title"/>
          </p:nvPr>
        </p:nvSpPr>
        <p:spPr>
          <a:xfrm>
            <a:off x="838200" y="365125"/>
            <a:ext cx="10515600" cy="9468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a:t>Working Model</a:t>
            </a:r>
            <a:endParaRPr b="1"/>
          </a:p>
        </p:txBody>
      </p:sp>
      <p:pic>
        <p:nvPicPr>
          <p:cNvPr id="136" name="Google Shape;136;p20"/>
          <p:cNvPicPr preferRelativeResize="0"/>
          <p:nvPr/>
        </p:nvPicPr>
        <p:blipFill>
          <a:blip r:embed="rId3">
            <a:alphaModFix/>
          </a:blip>
          <a:stretch>
            <a:fillRect/>
          </a:stretch>
        </p:blipFill>
        <p:spPr>
          <a:xfrm>
            <a:off x="609600" y="1120000"/>
            <a:ext cx="11310397" cy="5584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1"/>
          <p:cNvSpPr txBox="1"/>
          <p:nvPr>
            <p:ph type="title"/>
          </p:nvPr>
        </p:nvSpPr>
        <p:spPr>
          <a:xfrm>
            <a:off x="838200" y="365125"/>
            <a:ext cx="6537900" cy="5949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a:t>Agent Analysis</a:t>
            </a:r>
            <a:endParaRPr/>
          </a:p>
        </p:txBody>
      </p:sp>
      <p:pic>
        <p:nvPicPr>
          <p:cNvPr id="142" name="Google Shape;142;p21" title="Screenshot 2026-06-04 at 5.16.12 PM.png"/>
          <p:cNvPicPr preferRelativeResize="0"/>
          <p:nvPr/>
        </p:nvPicPr>
        <p:blipFill>
          <a:blip r:embed="rId3">
            <a:alphaModFix/>
          </a:blip>
          <a:stretch>
            <a:fillRect/>
          </a:stretch>
        </p:blipFill>
        <p:spPr>
          <a:xfrm>
            <a:off x="1233600" y="1056000"/>
            <a:ext cx="9614403" cy="55058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2"/>
          <p:cNvSpPr txBox="1"/>
          <p:nvPr>
            <p:ph type="title"/>
          </p:nvPr>
        </p:nvSpPr>
        <p:spPr>
          <a:xfrm>
            <a:off x="838200" y="365125"/>
            <a:ext cx="5209800" cy="6270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a:t>Agent Evaluation record</a:t>
            </a:r>
            <a:endParaRPr/>
          </a:p>
        </p:txBody>
      </p:sp>
      <p:pic>
        <p:nvPicPr>
          <p:cNvPr id="148" name="Google Shape;148;p22" title="Screenshot 2026-06-04 at 5.16.18 PM.png"/>
          <p:cNvPicPr preferRelativeResize="0"/>
          <p:nvPr/>
        </p:nvPicPr>
        <p:blipFill>
          <a:blip r:embed="rId3">
            <a:alphaModFix/>
          </a:blip>
          <a:stretch>
            <a:fillRect/>
          </a:stretch>
        </p:blipFill>
        <p:spPr>
          <a:xfrm>
            <a:off x="736000" y="1120000"/>
            <a:ext cx="11168000" cy="5504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3"/>
          <p:cNvPicPr preferRelativeResize="0"/>
          <p:nvPr/>
        </p:nvPicPr>
        <p:blipFill rotWithShape="1">
          <a:blip r:embed="rId3">
            <a:alphaModFix/>
          </a:blip>
          <a:srcRect b="0" l="0" r="0" t="0"/>
          <a:stretch/>
        </p:blipFill>
        <p:spPr>
          <a:xfrm>
            <a:off x="8371985" y="1167493"/>
            <a:ext cx="3015343" cy="4523014"/>
          </a:xfrm>
          <a:prstGeom prst="rect">
            <a:avLst/>
          </a:prstGeom>
          <a:noFill/>
          <a:ln>
            <a:noFill/>
          </a:ln>
        </p:spPr>
      </p:pic>
      <p:sp>
        <p:nvSpPr>
          <p:cNvPr id="154" name="Google Shape;154;p23"/>
          <p:cNvSpPr txBox="1"/>
          <p:nvPr/>
        </p:nvSpPr>
        <p:spPr>
          <a:xfrm>
            <a:off x="475488" y="283464"/>
            <a:ext cx="931773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Arial"/>
                <a:ea typeface="Arial"/>
                <a:cs typeface="Arial"/>
                <a:sym typeface="Arial"/>
              </a:rPr>
              <a:t>Role of Agentic AI in the solution </a:t>
            </a:r>
            <a:endParaRPr b="1" i="0" sz="3200" u="none" cap="none" strike="noStrike">
              <a:solidFill>
                <a:srgbClr val="000000"/>
              </a:solidFill>
              <a:latin typeface="Arial"/>
              <a:ea typeface="Arial"/>
              <a:cs typeface="Arial"/>
              <a:sym typeface="Arial"/>
            </a:endParaRPr>
          </a:p>
        </p:txBody>
      </p:sp>
      <p:sp>
        <p:nvSpPr>
          <p:cNvPr id="155" name="Google Shape;155;p23"/>
          <p:cNvSpPr txBox="1"/>
          <p:nvPr/>
        </p:nvSpPr>
        <p:spPr>
          <a:xfrm>
            <a:off x="621792" y="1167493"/>
            <a:ext cx="7406700" cy="4956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Agentic AI</a:t>
            </a:r>
            <a:r>
              <a:rPr lang="en-US" sz="1100">
                <a:solidFill>
                  <a:schemeClr val="dk1"/>
                </a:solidFill>
              </a:rPr>
              <a:t> enables the College Admission Agent to function as an intelligent, autonomous system rather than a simple rule-based chatbot. Built on the </a:t>
            </a:r>
            <a:r>
              <a:rPr b="1" lang="en-US" sz="1100">
                <a:solidFill>
                  <a:schemeClr val="dk1"/>
                </a:solidFill>
              </a:rPr>
              <a:t>IBM watsonx Orchestrate</a:t>
            </a:r>
            <a:r>
              <a:rPr lang="en-US" sz="1100">
                <a:solidFill>
                  <a:schemeClr val="dk1"/>
                </a:solidFill>
              </a:rPr>
              <a:t> framework and powered by the core foundational </a:t>
            </a:r>
            <a:r>
              <a:rPr b="1" lang="en-US" sz="1100">
                <a:solidFill>
                  <a:schemeClr val="dk1"/>
                </a:solidFill>
              </a:rPr>
              <a:t>IBM Granite-4.0-8B-Instruct</a:t>
            </a:r>
            <a:r>
              <a:rPr lang="en-US" sz="1100">
                <a:solidFill>
                  <a:schemeClr val="dk1"/>
                </a:solidFill>
              </a:rPr>
              <a:t> model, it seamlessly coordinates the entire information extraction, execution, and reasoning workflow to deliver personalized, real-time admission guidance.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The system dynamically orchestrates data workflows using the </a:t>
            </a:r>
            <a:r>
              <a:rPr b="1" lang="en-US" sz="1100">
                <a:solidFill>
                  <a:schemeClr val="dk1"/>
                </a:solidFill>
              </a:rPr>
              <a:t>watsonx Skill Flow Manager</a:t>
            </a:r>
            <a:r>
              <a:rPr lang="en-US" sz="1100">
                <a:solidFill>
                  <a:schemeClr val="dk1"/>
                </a:solidFill>
              </a:rPr>
              <a:t>. Instead of routing queries through rigid static lines, it relies on a managed </a:t>
            </a:r>
            <a:r>
              <a:rPr b="1" lang="en-US" sz="1100">
                <a:solidFill>
                  <a:schemeClr val="dk1"/>
                </a:solidFill>
              </a:rPr>
              <a:t>Knowledge Grounding Base</a:t>
            </a:r>
            <a:r>
              <a:rPr lang="en-US" sz="1100">
                <a:solidFill>
                  <a:schemeClr val="dk1"/>
                </a:solidFill>
              </a:rPr>
              <a:t> that ingests the raw university brochure PDF. Through an automated ingestion parser, the platform handles token-efficient semantic processing and structures the data streams dynamically, ensuring high computational accuracy, enterprise-grade safety, and rapid retrieval times.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Agentic AI brings deep context awareness to the system. By cross-referencing user questions entered via the </a:t>
            </a:r>
            <a:r>
              <a:rPr b="1" lang="en-US" sz="1100">
                <a:solidFill>
                  <a:schemeClr val="dk1"/>
                </a:solidFill>
              </a:rPr>
              <a:t>watsonx Web Chat Channel</a:t>
            </a:r>
            <a:r>
              <a:rPr lang="en-US" sz="1100">
                <a:solidFill>
                  <a:schemeClr val="dk1"/>
                </a:solidFill>
              </a:rPr>
              <a:t> against high-density vector representations securely stored in the integrated </a:t>
            </a:r>
            <a:r>
              <a:rPr b="1" lang="en-US" sz="1100">
                <a:solidFill>
                  <a:schemeClr val="dk1"/>
                </a:solidFill>
              </a:rPr>
              <a:t>watsonx.data Vector Database</a:t>
            </a:r>
            <a:r>
              <a:rPr lang="en-US" sz="1100">
                <a:solidFill>
                  <a:schemeClr val="dk1"/>
                </a:solidFill>
              </a:rPr>
              <a:t>, the core Granite model easily understands intricate parameters. It can process complex student queries regarding specific course eligibility aggregates, multi-tier annual fee structures, and applicable scholarship percentages.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Furthermore, the agent utilizes integrated </a:t>
            </a:r>
            <a:r>
              <a:rPr b="1" lang="en-US" sz="1100">
                <a:solidFill>
                  <a:schemeClr val="dk1"/>
                </a:solidFill>
              </a:rPr>
              <a:t>watsonx Guardrails and Response Formatters</a:t>
            </a:r>
            <a:r>
              <a:rPr lang="en-US" sz="1100">
                <a:solidFill>
                  <a:schemeClr val="dk1"/>
                </a:solidFill>
              </a:rPr>
              <a:t>. This architecture component automatically translates advanced cognitive reasoning into clear, scannable UI cards, JSON schemas, or tabular formats tailored for the prospective student.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Overall, Agentic AI transforms the application into a proactive, precise, and goal-driven system. By functioning through the </a:t>
            </a:r>
            <a:r>
              <a:rPr b="1" lang="en-US" sz="1100">
                <a:solidFill>
                  <a:schemeClr val="dk1"/>
                </a:solidFill>
              </a:rPr>
              <a:t>watsonx</a:t>
            </a:r>
            <a:r>
              <a:rPr b="1" lang="en-US" sz="1100">
                <a:solidFill>
                  <a:schemeClr val="dk1"/>
                </a:solidFill>
              </a:rPr>
              <a:t> Orchestrate</a:t>
            </a:r>
            <a:r>
              <a:rPr lang="en-US" sz="1100">
                <a:solidFill>
                  <a:schemeClr val="dk1"/>
                </a:solidFill>
              </a:rPr>
              <a:t> environment, it acts as an autonomous digital university counselor that seamlessly steers prospective applicants from initial academic inquiry to final enrollment clarity.</a:t>
            </a:r>
            <a:endParaRPr sz="1100">
              <a:solidFill>
                <a:schemeClr val="dk1"/>
              </a:solidFill>
            </a:endParaRPr>
          </a:p>
          <a:p>
            <a:pPr indent="0" lvl="0" marL="0" marR="0" rtl="0" algn="l">
              <a:lnSpc>
                <a:spcPct val="100000"/>
              </a:lnSpc>
              <a:spcBef>
                <a:spcPts val="1200"/>
              </a:spcBef>
              <a:spcAft>
                <a:spcPts val="0"/>
              </a:spcAft>
              <a:buNone/>
            </a:pPr>
            <a:r>
              <a:t/>
            </a:r>
            <a:endParaRPr b="1" sz="13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4"/>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Technology Used</a:t>
            </a:r>
            <a:endParaRPr b="1" i="0" sz="2400" u="none" cap="none" strike="noStrike">
              <a:solidFill>
                <a:srgbClr val="000000"/>
              </a:solidFill>
              <a:latin typeface="Arial"/>
              <a:ea typeface="Arial"/>
              <a:cs typeface="Arial"/>
              <a:sym typeface="Arial"/>
            </a:endParaRPr>
          </a:p>
        </p:txBody>
      </p:sp>
      <p:sp>
        <p:nvSpPr>
          <p:cNvPr id="161" name="Google Shape;161;p24"/>
          <p:cNvSpPr txBox="1"/>
          <p:nvPr/>
        </p:nvSpPr>
        <p:spPr>
          <a:xfrm>
            <a:off x="288000" y="946300"/>
            <a:ext cx="11696100" cy="6300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Clr>
                <a:schemeClr val="dk1"/>
              </a:buClr>
              <a:buSzPts val="1100"/>
              <a:buFont typeface="Arial"/>
              <a:buNone/>
            </a:pPr>
            <a:r>
              <a:rPr b="1" lang="en-US" sz="1600">
                <a:solidFill>
                  <a:schemeClr val="dk1"/>
                </a:solidFill>
              </a:rPr>
              <a:t>1. IBM watsonx Orchestrate Platform</a:t>
            </a:r>
            <a:endParaRPr b="1" sz="1600">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US">
                <a:solidFill>
                  <a:schemeClr val="dk1"/>
                </a:solidFill>
              </a:rPr>
              <a:t>Role:</a:t>
            </a:r>
            <a:r>
              <a:rPr lang="en-US">
                <a:solidFill>
                  <a:schemeClr val="dk1"/>
                </a:solidFill>
              </a:rPr>
              <a:t> Centralized Automation &amp; AI Orchestration Environment.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Description:</a:t>
            </a:r>
            <a:r>
              <a:rPr lang="en-US">
                <a:solidFill>
                  <a:schemeClr val="dk1"/>
                </a:solidFill>
              </a:rPr>
              <a:t> Serves as the primary workspace for designing, managing, and orchestrating intelligent digital skill flows. It enables the creation of an autonomous agent that can execute multi-turn conversational paths, handle context switching, and manage channel integrations natively without relying on visual third-party graph builders.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600">
                <a:solidFill>
                  <a:schemeClr val="dk1"/>
                </a:solidFill>
              </a:rPr>
              <a:t>2. IBM Granite Model (</a:t>
            </a:r>
            <a:r>
              <a:rPr b="1" lang="en-US" sz="1600">
                <a:solidFill>
                  <a:srgbClr val="188038"/>
                </a:solidFill>
                <a:latin typeface="Roboto Mono"/>
                <a:ea typeface="Roboto Mono"/>
                <a:cs typeface="Roboto Mono"/>
                <a:sym typeface="Roboto Mono"/>
              </a:rPr>
              <a:t>granite-4.0-8b-instruct</a:t>
            </a:r>
            <a:r>
              <a:rPr b="1" lang="en-US" sz="1600">
                <a:solidFill>
                  <a:schemeClr val="dk1"/>
                </a:solidFill>
              </a:rPr>
              <a:t>)</a:t>
            </a:r>
            <a:endParaRPr b="1" sz="1600">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US">
                <a:solidFill>
                  <a:schemeClr val="dk1"/>
                </a:solidFill>
              </a:rPr>
              <a:t>Role:</a:t>
            </a:r>
            <a:r>
              <a:rPr lang="en-US">
                <a:solidFill>
                  <a:schemeClr val="dk1"/>
                </a:solidFill>
              </a:rPr>
              <a:t> Core Cognitive Reasoning Engine.</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Description:</a:t>
            </a:r>
            <a:r>
              <a:rPr lang="en-US">
                <a:solidFill>
                  <a:schemeClr val="dk1"/>
                </a:solidFill>
              </a:rPr>
              <a:t> Acts as the primary brain of the admission agent. This foundational model processes formatted instructions, synthesizes context retrieved from documents, understands complex university regulations, and generates human-like, secure, and accurate text </a:t>
            </a:r>
            <a:endParaRPr>
              <a:solidFill>
                <a:schemeClr val="dk1"/>
              </a:solidFill>
            </a:endParaRPr>
          </a:p>
          <a:p>
            <a:pPr indent="0" lvl="0" marL="0" rtl="0" algn="l">
              <a:lnSpc>
                <a:spcPct val="115000"/>
              </a:lnSpc>
              <a:spcBef>
                <a:spcPts val="1200"/>
              </a:spcBef>
              <a:spcAft>
                <a:spcPts val="0"/>
              </a:spcAft>
              <a:buNone/>
            </a:pPr>
            <a:r>
              <a:rPr b="1" lang="en-US" sz="1600">
                <a:solidFill>
                  <a:schemeClr val="dk1"/>
                </a:solidFill>
              </a:rPr>
              <a:t>3. IBM Cloud Infrastructure</a:t>
            </a:r>
            <a:endParaRPr b="1" sz="1600">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US">
                <a:solidFill>
                  <a:schemeClr val="dk1"/>
                </a:solidFill>
              </a:rPr>
              <a:t>Role:</a:t>
            </a:r>
            <a:r>
              <a:rPr lang="en-US">
                <a:solidFill>
                  <a:schemeClr val="dk1"/>
                </a:solidFill>
              </a:rPr>
              <a:t> Enterprise-Grade Hosting &amp; Deployment Layer.</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Description:</a:t>
            </a:r>
            <a:r>
              <a:rPr lang="en-US">
                <a:solidFill>
                  <a:schemeClr val="dk1"/>
                </a:solidFill>
              </a:rPr>
              <a:t> Provides the underlying cloud infrastructure to host, secure, and scale the admission system. It guarantees high availability, low-latency API handling, robust user data encryption, and a stable runtime environment required for live public deployment.</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600">
                <a:solidFill>
                  <a:schemeClr val="dk1"/>
                </a:solidFill>
              </a:rPr>
              <a:t>4. Grounded RAG (Retrieval-Augmented Generation)</a:t>
            </a:r>
            <a:endParaRPr b="1" sz="1600">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US">
                <a:solidFill>
                  <a:schemeClr val="dk1"/>
                </a:solidFill>
              </a:rPr>
              <a:t>Role:</a:t>
            </a:r>
            <a:r>
              <a:rPr lang="en-US">
                <a:solidFill>
                  <a:schemeClr val="dk1"/>
                </a:solidFill>
              </a:rPr>
              <a:t> Architectural Data Extraction Pattern.</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Description:</a:t>
            </a:r>
            <a:r>
              <a:rPr lang="en-US">
                <a:solidFill>
                  <a:schemeClr val="dk1"/>
                </a:solidFill>
              </a:rPr>
              <a:t> The structural pipeline used to fetch real-time facts directly from the official university brochure before generating responses. By dynamically inserting specific policy documents into the model's context window, it eliminates hallucinations and ensures that critical figures like admission deadlines, fees, and eligibility grids are 100% factual.</a:t>
            </a:r>
            <a:endParaRPr>
              <a:solidFill>
                <a:schemeClr val="dk1"/>
              </a:solidFill>
            </a:endParaRPr>
          </a:p>
          <a:p>
            <a:pPr indent="0" lvl="0" marL="0" marR="0" rtl="0" algn="l">
              <a:lnSpc>
                <a:spcPct val="100000"/>
              </a:lnSpc>
              <a:spcBef>
                <a:spcPts val="1200"/>
              </a:spcBef>
              <a:spcAft>
                <a:spcPts val="0"/>
              </a:spcAft>
              <a:buNone/>
            </a:pPr>
            <a:r>
              <a:t/>
            </a:r>
            <a:endParaRPr b="1" sz="2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US" sz="2000">
                <a:latin typeface="Arial"/>
                <a:ea typeface="Arial"/>
                <a:cs typeface="Arial"/>
                <a:sym typeface="Arial"/>
              </a:rPr>
              <a:t>5. IBM watsonx.ai</a:t>
            </a:r>
            <a:endParaRPr b="1" sz="2000">
              <a:latin typeface="Arial"/>
              <a:ea typeface="Arial"/>
              <a:cs typeface="Arial"/>
              <a:sym typeface="Arial"/>
            </a:endParaRPr>
          </a:p>
          <a:p>
            <a:pPr indent="-342900" lvl="0" marL="457200" rtl="0" algn="l">
              <a:lnSpc>
                <a:spcPct val="115000"/>
              </a:lnSpc>
              <a:spcBef>
                <a:spcPts val="1200"/>
              </a:spcBef>
              <a:spcAft>
                <a:spcPts val="0"/>
              </a:spcAft>
              <a:buSzPts val="1800"/>
              <a:buChar char="●"/>
            </a:pPr>
            <a:r>
              <a:rPr b="1" lang="en-US" sz="1800">
                <a:latin typeface="Arial"/>
                <a:ea typeface="Arial"/>
                <a:cs typeface="Arial"/>
                <a:sym typeface="Arial"/>
              </a:rPr>
              <a:t>Role:</a:t>
            </a:r>
            <a:r>
              <a:rPr lang="en-US" sz="1800">
                <a:latin typeface="Arial"/>
                <a:ea typeface="Arial"/>
                <a:cs typeface="Arial"/>
                <a:sym typeface="Arial"/>
              </a:rPr>
              <a:t> Operational AI Layer &amp; Embedding Lifecycle Management.</a:t>
            </a: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b="1" lang="en-US" sz="1800">
                <a:latin typeface="Arial"/>
                <a:ea typeface="Arial"/>
                <a:cs typeface="Arial"/>
                <a:sym typeface="Arial"/>
              </a:rPr>
              <a:t>Description:</a:t>
            </a:r>
            <a:r>
              <a:rPr lang="en-US" sz="1800">
                <a:latin typeface="Arial"/>
                <a:ea typeface="Arial"/>
                <a:cs typeface="Arial"/>
                <a:sym typeface="Arial"/>
              </a:rPr>
              <a:t> Powers the foundational AI lifecycle by managing scalable model deployment, secure endpoints, and enterprise-level AI governance. It also houses the high-fidelity embedding models that translate raw brochure texts into dense numerical vectors for precise semantic mapping.</a:t>
            </a:r>
            <a:endParaRPr sz="18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2000">
                <a:latin typeface="Arial"/>
                <a:ea typeface="Arial"/>
                <a:cs typeface="Arial"/>
                <a:sym typeface="Arial"/>
              </a:rPr>
              <a:t>6. watsonx.data Vector Database</a:t>
            </a:r>
            <a:endParaRPr b="1" sz="2000">
              <a:latin typeface="Arial"/>
              <a:ea typeface="Arial"/>
              <a:cs typeface="Arial"/>
              <a:sym typeface="Arial"/>
            </a:endParaRPr>
          </a:p>
          <a:p>
            <a:pPr indent="-342900" lvl="0" marL="457200" rtl="0" algn="l">
              <a:lnSpc>
                <a:spcPct val="115000"/>
              </a:lnSpc>
              <a:spcBef>
                <a:spcPts val="1200"/>
              </a:spcBef>
              <a:spcAft>
                <a:spcPts val="0"/>
              </a:spcAft>
              <a:buSzPts val="1800"/>
              <a:buChar char="●"/>
            </a:pPr>
            <a:r>
              <a:rPr b="1" lang="en-US" sz="1800">
                <a:latin typeface="Arial"/>
                <a:ea typeface="Arial"/>
                <a:cs typeface="Arial"/>
                <a:sym typeface="Arial"/>
              </a:rPr>
              <a:t>Role:</a:t>
            </a:r>
            <a:r>
              <a:rPr lang="en-US" sz="1800">
                <a:latin typeface="Arial"/>
                <a:ea typeface="Arial"/>
                <a:cs typeface="Arial"/>
                <a:sym typeface="Arial"/>
              </a:rPr>
              <a:t> High-Performance Semantic Vector Store.</a:t>
            </a: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b="1" lang="en-US" sz="1800">
                <a:latin typeface="Arial"/>
                <a:ea typeface="Arial"/>
                <a:cs typeface="Arial"/>
                <a:sym typeface="Arial"/>
              </a:rPr>
              <a:t>Description:</a:t>
            </a:r>
            <a:r>
              <a:rPr lang="en-US" sz="1800">
                <a:latin typeface="Arial"/>
                <a:ea typeface="Arial"/>
                <a:cs typeface="Arial"/>
                <a:sym typeface="Arial"/>
              </a:rPr>
              <a:t> Acts as the dedicated knowledge repository for the system. It safely stores the processed text vectors of the university brochure and executes low-latency similarity indexing to retrieve the most contextually relevant sections whenever a prospective student asks a question</a:t>
            </a:r>
            <a:endParaRPr sz="35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6"/>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Novelty and Uniqueness</a:t>
            </a:r>
            <a:endParaRPr b="1" i="0" sz="2400" u="none" cap="none" strike="noStrike">
              <a:solidFill>
                <a:srgbClr val="000000"/>
              </a:solidFill>
              <a:latin typeface="Arial"/>
              <a:ea typeface="Arial"/>
              <a:cs typeface="Arial"/>
              <a:sym typeface="Arial"/>
            </a:endParaRPr>
          </a:p>
        </p:txBody>
      </p:sp>
      <p:sp>
        <p:nvSpPr>
          <p:cNvPr id="172" name="Google Shape;172;p26"/>
          <p:cNvSpPr txBox="1"/>
          <p:nvPr/>
        </p:nvSpPr>
        <p:spPr>
          <a:xfrm>
            <a:off x="777240" y="1207008"/>
            <a:ext cx="11301900" cy="563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The proposed </a:t>
            </a:r>
            <a:r>
              <a:rPr b="1" lang="en-US" sz="1900">
                <a:solidFill>
                  <a:schemeClr val="dk1"/>
                </a:solidFill>
              </a:rPr>
              <a:t> College Admission AI Agent</a:t>
            </a:r>
            <a:endParaRPr b="1" sz="1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700">
                <a:solidFill>
                  <a:schemeClr val="dk1"/>
                </a:solidFill>
              </a:rPr>
              <a:t>The system combines </a:t>
            </a:r>
            <a:r>
              <a:rPr b="1" lang="en-US" sz="1700">
                <a:solidFill>
                  <a:schemeClr val="dk1"/>
                </a:solidFill>
              </a:rPr>
              <a:t>Agentic AI</a:t>
            </a:r>
            <a:r>
              <a:rPr lang="en-US" sz="1700">
                <a:solidFill>
                  <a:schemeClr val="dk1"/>
                </a:solidFill>
              </a:rPr>
              <a:t>, </a:t>
            </a:r>
            <a:r>
              <a:rPr b="1" lang="en-US" sz="1700">
                <a:solidFill>
                  <a:schemeClr val="dk1"/>
                </a:solidFill>
              </a:rPr>
              <a:t>Grounded RAG</a:t>
            </a:r>
            <a:r>
              <a:rPr lang="en-US" sz="1700">
                <a:solidFill>
                  <a:schemeClr val="dk1"/>
                </a:solidFill>
              </a:rPr>
              <a:t>, and deep personalization into a single enterprise-ready solution.</a:t>
            </a:r>
            <a:endParaRPr sz="1700">
              <a:solidFill>
                <a:schemeClr val="dk1"/>
              </a:solidFill>
            </a:endParaRPr>
          </a:p>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Autonomous Orchestration:</a:t>
            </a:r>
            <a:r>
              <a:rPr lang="en-US" sz="1700">
                <a:solidFill>
                  <a:schemeClr val="dk1"/>
                </a:solidFill>
              </a:rPr>
              <a:t> Replaces rigid chatbots with the native </a:t>
            </a:r>
            <a:r>
              <a:rPr b="1" lang="en-US" sz="1700">
                <a:solidFill>
                  <a:schemeClr val="dk1"/>
                </a:solidFill>
              </a:rPr>
              <a:t>watsonx Skill Flow Manager</a:t>
            </a:r>
            <a:r>
              <a:rPr lang="en-US" sz="1700">
                <a:solidFill>
                  <a:schemeClr val="dk1"/>
                </a:solidFill>
              </a:rPr>
              <a:t> to dynamically handle context switching and multi-step conversational paths.</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RAG-Based Factual Accuracy:</a:t>
            </a:r>
            <a:r>
              <a:rPr lang="en-US" sz="1700">
                <a:solidFill>
                  <a:schemeClr val="dk1"/>
                </a:solidFill>
              </a:rPr>
              <a:t> Integrates a direct retrieval loop with </a:t>
            </a:r>
            <a:r>
              <a:rPr b="1" lang="en-US" sz="1700">
                <a:solidFill>
                  <a:schemeClr val="dk1"/>
                </a:solidFill>
              </a:rPr>
              <a:t>watsonx.ai</a:t>
            </a:r>
            <a:r>
              <a:rPr lang="en-US" sz="1700">
                <a:solidFill>
                  <a:schemeClr val="dk1"/>
                </a:solidFill>
              </a:rPr>
              <a:t> and </a:t>
            </a:r>
            <a:r>
              <a:rPr b="1" lang="en-US" sz="1700">
                <a:solidFill>
                  <a:schemeClr val="dk1"/>
                </a:solidFill>
              </a:rPr>
              <a:t>watsonx.data Vector Database</a:t>
            </a:r>
            <a:r>
              <a:rPr lang="en-US" sz="1700">
                <a:solidFill>
                  <a:schemeClr val="dk1"/>
                </a:solidFill>
              </a:rPr>
              <a:t> to eliminate AI hallucinations, ensuring 100% factual responses grounded in the official university brochure.</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Hyper-Personalized Fee &amp; Scholarship Matrix:</a:t>
            </a:r>
            <a:r>
              <a:rPr lang="en-US" sz="1700">
                <a:solidFill>
                  <a:schemeClr val="dk1"/>
                </a:solidFill>
              </a:rPr>
              <a:t> Dynamically evaluates a student's profile (e.g., test scores, aggregates) against university policies to calculate exact fee waivers and scholarship tiers in real time.</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Automated Ingestion Parsing:</a:t>
            </a:r>
            <a:r>
              <a:rPr lang="en-US" sz="1700">
                <a:solidFill>
                  <a:schemeClr val="dk1"/>
                </a:solidFill>
              </a:rPr>
              <a:t> Utilizes IBM's advanced ingestion pipeline to perfectly preserve complex data structures like fee brackets, intake capacities, and eligibility criteria during vector indexing.</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Structured UI Output Generation:</a:t>
            </a:r>
            <a:r>
              <a:rPr lang="en-US" sz="1700">
                <a:solidFill>
                  <a:schemeClr val="dk1"/>
                </a:solidFill>
              </a:rPr>
              <a:t> Uses </a:t>
            </a:r>
            <a:r>
              <a:rPr b="1" lang="en-US" sz="1700">
                <a:solidFill>
                  <a:schemeClr val="dk1"/>
                </a:solidFill>
              </a:rPr>
              <a:t>watsonx Guardrails and Formatters</a:t>
            </a:r>
            <a:r>
              <a:rPr lang="en-US" sz="1700">
                <a:solidFill>
                  <a:schemeClr val="dk1"/>
                </a:solidFill>
              </a:rPr>
              <a:t> to transform complex reasoning into clean, scannable UI cards and structured tables instead of walls of plain text.</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Enterprise Infrastructure:</a:t>
            </a:r>
            <a:r>
              <a:rPr lang="en-US" sz="1700">
                <a:solidFill>
                  <a:schemeClr val="dk1"/>
                </a:solidFill>
              </a:rPr>
              <a:t> Powered by the </a:t>
            </a:r>
            <a:r>
              <a:rPr b="1" lang="en-US" sz="1700">
                <a:solidFill>
                  <a:schemeClr val="dk1"/>
                </a:solidFill>
              </a:rPr>
              <a:t>IBM Granite-4.0-8B-Instruct</a:t>
            </a:r>
            <a:r>
              <a:rPr lang="en-US" sz="1700">
                <a:solidFill>
                  <a:schemeClr val="dk1"/>
                </a:solidFill>
              </a:rPr>
              <a:t> model on </a:t>
            </a:r>
            <a:r>
              <a:rPr b="1" lang="en-US" sz="1700">
                <a:solidFill>
                  <a:schemeClr val="dk1"/>
                </a:solidFill>
              </a:rPr>
              <a:t>IBM Cloud</a:t>
            </a:r>
            <a:r>
              <a:rPr lang="en-US" sz="1700">
                <a:solidFill>
                  <a:schemeClr val="dk1"/>
                </a:solidFill>
              </a:rPr>
              <a:t>, guaranteeing low-latency execution, robust data compliance, and enterprise-grade safety governance.</a:t>
            </a:r>
            <a:endParaRPr sz="1700">
              <a:solidFill>
                <a:schemeClr val="dk1"/>
              </a:solidFill>
            </a:endParaRPr>
          </a:p>
          <a:p>
            <a:pPr indent="0" lvl="0" marL="0" marR="0" rtl="0" algn="l">
              <a:lnSpc>
                <a:spcPct val="100000"/>
              </a:lnSpc>
              <a:spcBef>
                <a:spcPts val="1200"/>
              </a:spcBef>
              <a:spcAft>
                <a:spcPts val="0"/>
              </a:spcAft>
              <a:buNone/>
            </a:pPr>
            <a:r>
              <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7"/>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Git Hub Link</a:t>
            </a:r>
            <a:endParaRPr b="1" i="0" sz="2400" u="none" cap="none" strike="noStrike">
              <a:solidFill>
                <a:srgbClr val="000000"/>
              </a:solidFill>
              <a:latin typeface="Arial"/>
              <a:ea typeface="Arial"/>
              <a:cs typeface="Arial"/>
              <a:sym typeface="Arial"/>
            </a:endParaRPr>
          </a:p>
        </p:txBody>
      </p:sp>
      <p:sp>
        <p:nvSpPr>
          <p:cNvPr id="178" name="Google Shape;178;p27"/>
          <p:cNvSpPr/>
          <p:nvPr/>
        </p:nvSpPr>
        <p:spPr>
          <a:xfrm>
            <a:off x="688000" y="880001"/>
            <a:ext cx="9745200" cy="45507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2150" u="none" cap="none" strike="noStrike">
                <a:solidFill>
                  <a:srgbClr val="2B3541"/>
                </a:solidFill>
                <a:latin typeface="Times New Roman"/>
                <a:ea typeface="Times New Roman"/>
                <a:cs typeface="Times New Roman"/>
                <a:sym typeface="Times New Roman"/>
              </a:rPr>
              <a:t>Please create public github repository (Enable Add README  button while creating repository) with format – </a:t>
            </a:r>
            <a:endParaRPr sz="1700"/>
          </a:p>
          <a:p>
            <a:pPr indent="0" lvl="0" marL="0" marR="0" rtl="0" algn="l">
              <a:lnSpc>
                <a:spcPct val="162162"/>
              </a:lnSpc>
              <a:spcBef>
                <a:spcPts val="0"/>
              </a:spcBef>
              <a:spcAft>
                <a:spcPts val="0"/>
              </a:spcAft>
              <a:buClr>
                <a:srgbClr val="2B3541"/>
              </a:buClr>
              <a:buSzPts val="1850"/>
              <a:buFont typeface="Times New Roman"/>
              <a:buNone/>
            </a:pPr>
            <a:r>
              <a:rPr b="0" i="0" lang="en-US" sz="2150" u="none" cap="none" strike="noStrike">
                <a:solidFill>
                  <a:srgbClr val="2B3541"/>
                </a:solidFill>
                <a:latin typeface="Times New Roman"/>
                <a:ea typeface="Times New Roman"/>
                <a:cs typeface="Times New Roman"/>
                <a:sym typeface="Times New Roman"/>
              </a:rPr>
              <a:t>Please test and Paste the working  Github URL –https://github.com/sahylvishwakarma/College-admission-Ai-Agent</a:t>
            </a:r>
            <a:endParaRPr sz="1700"/>
          </a:p>
          <a:p>
            <a:pPr indent="0" lvl="0" marL="0" marR="0" rtl="0" algn="l">
              <a:lnSpc>
                <a:spcPct val="162162"/>
              </a:lnSpc>
              <a:spcBef>
                <a:spcPts val="0"/>
              </a:spcBef>
              <a:spcAft>
                <a:spcPts val="0"/>
              </a:spcAft>
              <a:buNone/>
            </a:pPr>
            <a:r>
              <a:rPr b="1" i="0" lang="en-US" sz="2150" u="none" cap="none" strike="noStrike">
                <a:solidFill>
                  <a:srgbClr val="2B3541"/>
                </a:solidFill>
                <a:latin typeface="Times New Roman"/>
                <a:ea typeface="Times New Roman"/>
                <a:cs typeface="Times New Roman"/>
                <a:sym typeface="Times New Roman"/>
              </a:rPr>
              <a:t>Make sure you have Uploaded following three files into your github repository  </a:t>
            </a:r>
            <a:br>
              <a:rPr b="0" i="0" lang="en-US" sz="1850" u="none" cap="none" strike="noStrike">
                <a:solidFill>
                  <a:srgbClr val="2B3541"/>
                </a:solidFill>
                <a:latin typeface="Times New Roman"/>
                <a:ea typeface="Times New Roman"/>
                <a:cs typeface="Times New Roman"/>
                <a:sym typeface="Times New Roman"/>
              </a:rPr>
            </a:br>
            <a:endParaRPr b="0" i="0" sz="1850" u="none" cap="none" strike="noStrike">
              <a:solidFill>
                <a:srgbClr val="000000"/>
              </a:solidFill>
              <a:latin typeface="Times New Roman"/>
              <a:ea typeface="Times New Roman"/>
              <a:cs typeface="Times New Roman"/>
              <a:sym typeface="Times New Roman"/>
            </a:endParaRPr>
          </a:p>
        </p:txBody>
      </p:sp>
      <p:sp>
        <p:nvSpPr>
          <p:cNvPr id="179" name="Google Shape;179;p27"/>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8"/>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Future Scope </a:t>
            </a:r>
            <a:endParaRPr b="1" i="0" sz="2400" u="none" cap="none" strike="noStrike">
              <a:solidFill>
                <a:srgbClr val="000000"/>
              </a:solidFill>
              <a:latin typeface="Arial"/>
              <a:ea typeface="Arial"/>
              <a:cs typeface="Arial"/>
              <a:sym typeface="Arial"/>
            </a:endParaRPr>
          </a:p>
        </p:txBody>
      </p:sp>
      <p:sp>
        <p:nvSpPr>
          <p:cNvPr id="185" name="Google Shape;185;p28"/>
          <p:cNvSpPr/>
          <p:nvPr/>
        </p:nvSpPr>
        <p:spPr>
          <a:xfrm>
            <a:off x="1218724" y="1221715"/>
            <a:ext cx="9214580" cy="4277001"/>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1900">
                <a:solidFill>
                  <a:schemeClr val="dk1"/>
                </a:solidFill>
              </a:rPr>
              <a:t>1. Integration with Centralized Academic Portals &amp; Document Verification</a:t>
            </a:r>
            <a:endParaRPr b="1" sz="19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en-US" sz="1700">
                <a:solidFill>
                  <a:schemeClr val="dk1"/>
                </a:solidFill>
              </a:rPr>
              <a:t>The system can be integrated with national academic depositories (like DigiLocker) and school board databases to pull real-time student transcripts, board marks, and competitive exam scores (CUET, JEE, CLAT). This will enable the College Admission Agent to automatically verify a student's eligibility criteria and instantly process academic fee waivers or merit-based scholarships without manual paperwork.</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900">
                <a:solidFill>
                  <a:schemeClr val="dk1"/>
                </a:solidFill>
              </a:rPr>
              <a:t>2. AI-Powered Voice Assistant &amp; Hinglish/Multilingual Support</a:t>
            </a:r>
            <a:endParaRPr b="1" sz="19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en-US" sz="1700">
                <a:solidFill>
                  <a:schemeClr val="dk1"/>
                </a:solidFill>
              </a:rPr>
              <a:t>Enhancing the system with a voice-enabled conversational AI agent that supports multiple regional languages—with a strong focus on </a:t>
            </a:r>
            <a:r>
              <a:rPr b="1" lang="en-US" sz="1700">
                <a:solidFill>
                  <a:schemeClr val="dk1"/>
                </a:solidFill>
              </a:rPr>
              <a:t>Hinglish</a:t>
            </a:r>
            <a:r>
              <a:rPr lang="en-US" sz="1700">
                <a:solidFill>
                  <a:schemeClr val="dk1"/>
                </a:solidFill>
              </a:rPr>
              <a:t> and native dialects—will drastically improve accessibility. Prospective students and parents from diverse linguistic backgrounds can naturally converse with the system to ask complex questions about courses, hostel fees, and campus amenities, making the enrollment journey highly inclusive and user-friendly.</a:t>
            </a:r>
            <a:endParaRPr sz="1700">
              <a:solidFill>
                <a:schemeClr val="dk1"/>
              </a:solidFill>
            </a:endParaRPr>
          </a:p>
          <a:p>
            <a:pPr indent="0" lvl="0" marL="0" marR="0" rtl="0" algn="l">
              <a:lnSpc>
                <a:spcPct val="162162"/>
              </a:lnSpc>
              <a:spcBef>
                <a:spcPts val="1200"/>
              </a:spcBef>
              <a:spcAft>
                <a:spcPts val="0"/>
              </a:spcAft>
              <a:buClr>
                <a:srgbClr val="2B3541"/>
              </a:buClr>
              <a:buSzPts val="1850"/>
              <a:buFont typeface="Times New Roman"/>
              <a:buNone/>
            </a:pPr>
            <a:r>
              <a:t/>
            </a:r>
            <a:endParaRPr b="1" sz="2450">
              <a:solidFill>
                <a:srgbClr val="2B3541"/>
              </a:solidFill>
              <a:latin typeface="Times New Roman"/>
              <a:ea typeface="Times New Roman"/>
              <a:cs typeface="Times New Roman"/>
              <a:sym typeface="Times New Roman"/>
            </a:endParaRPr>
          </a:p>
        </p:txBody>
      </p:sp>
      <p:sp>
        <p:nvSpPr>
          <p:cNvPr id="186" name="Google Shape;186;p28"/>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87" name="Google Shape;187;p28"/>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88" name="Google Shape;188;p28"/>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p29"/>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